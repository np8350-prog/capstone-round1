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enor Sans" charset="1" panose="02000000000000000000"/>
      <p:regular r:id="rId22"/>
    </p:embeddedFont>
    <p:embeddedFont>
      <p:font typeface="Clear Sans" charset="1" panose="020B0503030202020304"/>
      <p:regular r:id="rId23"/>
    </p:embeddedFont>
    <p:embeddedFont>
      <p:font typeface="Clear Sans Medium" charset="1" panose="020B0603030202020304"/>
      <p:regular r:id="rId24"/>
    </p:embeddedFont>
    <p:embeddedFont>
      <p:font typeface="Clear Sans Bold" charset="1" panose="020B08030302020203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000307"/>
            <a:ext cx="10669771" cy="5067245"/>
            <a:chOff x="0" y="0"/>
            <a:chExt cx="14226361" cy="675632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4226361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Groundwork: </a:t>
              </a:r>
            </a:p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AI Readiness Diagnostics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301750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NELLY POURMEHR, BRAINYFUTURE AI CONSULTING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835016"/>
            <a:ext cx="11181859" cy="3157911"/>
            <a:chOff x="0" y="0"/>
            <a:chExt cx="14909145" cy="421054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76200"/>
              <a:ext cx="14909145" cy="859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5"/>
                </a:lnSpc>
                <a:spcBef>
                  <a:spcPct val="0"/>
                </a:spcBef>
              </a:pPr>
              <a:r>
                <a:rPr lang="en-US" b="true" sz="3896">
                  <a:solidFill>
                    <a:srgbClr val="ECEB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UNANSWERED QUESTIONS IN AI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71692"/>
              <a:ext cx="14909145" cy="233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73"/>
                </a:lnSpc>
                <a:spcBef>
                  <a:spcPct val="0"/>
                </a:spcBef>
              </a:pPr>
              <a:r>
                <a:rPr lang="en-US" sz="340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Every AI consulting engagement starts with the </a:t>
              </a:r>
              <a:r>
                <a:rPr lang="en-US" b="true" sz="3409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same critical question</a:t>
              </a:r>
              <a:r>
                <a:rPr lang="en-US" sz="340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: Will this idea be legal, safe, and defensible once it ships?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190380" y="3835016"/>
            <a:ext cx="3353147" cy="2644794"/>
          </a:xfrm>
          <a:custGeom>
            <a:avLst/>
            <a:gdLst/>
            <a:ahLst/>
            <a:cxnLst/>
            <a:rect r="r" b="b" t="t" l="l"/>
            <a:pathLst>
              <a:path h="2644794" w="3353147">
                <a:moveTo>
                  <a:pt x="0" y="0"/>
                </a:moveTo>
                <a:lnTo>
                  <a:pt x="3353147" y="0"/>
                </a:lnTo>
                <a:lnTo>
                  <a:pt x="3353147" y="2644795"/>
                </a:lnTo>
                <a:lnTo>
                  <a:pt x="0" y="2644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62100"/>
            <a:ext cx="83248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A2B68E"/>
                </a:solidFill>
                <a:latin typeface="Tenor Sans"/>
                <a:ea typeface="Tenor Sans"/>
                <a:cs typeface="Tenor Sans"/>
                <a:sym typeface="Tenor Sans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38334" y="1905390"/>
            <a:ext cx="9043543" cy="6335531"/>
          </a:xfrm>
          <a:custGeom>
            <a:avLst/>
            <a:gdLst/>
            <a:ahLst/>
            <a:cxnLst/>
            <a:rect r="r" b="b" t="t" l="l"/>
            <a:pathLst>
              <a:path h="6335531" w="9043543">
                <a:moveTo>
                  <a:pt x="0" y="0"/>
                </a:moveTo>
                <a:lnTo>
                  <a:pt x="9043544" y="0"/>
                </a:lnTo>
                <a:lnTo>
                  <a:pt x="9043544" y="6335531"/>
                </a:lnTo>
                <a:lnTo>
                  <a:pt x="0" y="6335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48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2014765"/>
            <a:ext cx="9763125" cy="6087069"/>
            <a:chOff x="0" y="0"/>
            <a:chExt cx="13017500" cy="811609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301750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Round 1 Evidence: </a:t>
              </a:r>
            </a:p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Data Landscape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3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QUANTIFYING AI RISKS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713109"/>
              <a:ext cx="11634000" cy="3402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7462" indent="-318731" lvl="1">
                <a:lnSpc>
                  <a:spcPts val="41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Analyzed 1,641 documented AI incidents</a:t>
              </a:r>
            </a:p>
            <a:p>
              <a:pPr algn="l" marL="637462" indent="-318731" lvl="1">
                <a:lnSpc>
                  <a:spcPts val="41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Developed a risk landscape dashboard</a:t>
              </a:r>
            </a:p>
            <a:p>
              <a:pPr algn="l" marL="637462" indent="-318731" lvl="1">
                <a:lnSpc>
                  <a:spcPts val="41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Identified real-world failure patterns</a:t>
              </a:r>
            </a:p>
            <a:p>
              <a:pPr algn="l" marL="637462" indent="-318731" lvl="1">
                <a:lnSpc>
                  <a:spcPts val="41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Based decisions on evidence, not assumptions</a:t>
              </a:r>
            </a:p>
            <a:p>
              <a:pPr algn="l" marL="637462" indent="-318731" lvl="1">
                <a:lnSpc>
                  <a:spcPts val="41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Established a foundation for future solutions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86460" y="8457714"/>
            <a:ext cx="1547292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spc="-69">
                <a:solidFill>
                  <a:srgbClr val="ECEBEA"/>
                </a:solidFill>
                <a:latin typeface="Tenor Sans"/>
                <a:ea typeface="Tenor Sans"/>
                <a:cs typeface="Tenor Sans"/>
                <a:sym typeface="Tenor Sans"/>
              </a:rPr>
              <a:t>T</a:t>
            </a:r>
            <a:r>
              <a:rPr lang="en-US" sz="3499" spc="-69">
                <a:solidFill>
                  <a:srgbClr val="ECEBEA"/>
                </a:solidFill>
                <a:latin typeface="Tenor Sans"/>
                <a:ea typeface="Tenor Sans"/>
                <a:cs typeface="Tenor Sans"/>
                <a:sym typeface="Tenor Sans"/>
              </a:rPr>
              <a:t>ableau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34203" y="501023"/>
            <a:ext cx="5435731" cy="4234049"/>
          </a:xfrm>
          <a:custGeom>
            <a:avLst/>
            <a:gdLst/>
            <a:ahLst/>
            <a:cxnLst/>
            <a:rect r="r" b="b" t="t" l="l"/>
            <a:pathLst>
              <a:path h="4234049" w="5435731">
                <a:moveTo>
                  <a:pt x="0" y="0"/>
                </a:moveTo>
                <a:lnTo>
                  <a:pt x="5435731" y="0"/>
                </a:lnTo>
                <a:lnTo>
                  <a:pt x="5435731" y="4234049"/>
                </a:lnTo>
                <a:lnTo>
                  <a:pt x="0" y="4234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4783" y="5143500"/>
            <a:ext cx="5323151" cy="4545988"/>
          </a:xfrm>
          <a:custGeom>
            <a:avLst/>
            <a:gdLst/>
            <a:ahLst/>
            <a:cxnLst/>
            <a:rect r="r" b="b" t="t" l="l"/>
            <a:pathLst>
              <a:path h="4545988" w="5323151">
                <a:moveTo>
                  <a:pt x="0" y="0"/>
                </a:moveTo>
                <a:lnTo>
                  <a:pt x="5323151" y="0"/>
                </a:lnTo>
                <a:lnTo>
                  <a:pt x="5323151" y="4545988"/>
                </a:lnTo>
                <a:lnTo>
                  <a:pt x="0" y="4545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9150" y="2343373"/>
            <a:ext cx="83248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A2B68E"/>
                </a:solidFill>
                <a:latin typeface="Tenor Sans"/>
                <a:ea typeface="Tenor Sans"/>
                <a:cs typeface="Tenor Sans"/>
                <a:sym typeface="Tenor Sans"/>
              </a:rPr>
              <a:t>The Pipeline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7506" y="3671610"/>
            <a:ext cx="8766311" cy="2475727"/>
            <a:chOff x="0" y="0"/>
            <a:chExt cx="11688415" cy="330097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11688415" cy="671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77"/>
                </a:lnSpc>
                <a:spcBef>
                  <a:spcPct val="0"/>
                </a:spcBef>
              </a:pPr>
              <a:r>
                <a:rPr lang="en-US" b="true" sz="3055">
                  <a:solidFill>
                    <a:srgbClr val="ECEBE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PROOF OF CONCEPT VALIDATION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462483"/>
              <a:ext cx="11688415" cy="1838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2"/>
                </a:lnSpc>
                <a:spcBef>
                  <a:spcPct val="0"/>
                </a:spcBef>
              </a:pPr>
              <a:r>
                <a:rPr lang="en-US" sz="2673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We successfully built an </a:t>
              </a:r>
              <a:r>
                <a:rPr lang="en-US" b="true" sz="2673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automation pipeline</a:t>
              </a:r>
              <a:r>
                <a:rPr lang="en-US" sz="2673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connecting a live diagnostic engine to real workflow tools, confirming technical viability before scaling for broader use.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3317" y="6984096"/>
            <a:ext cx="915607" cy="6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8"/>
              </a:lnSpc>
              <a:spcBef>
                <a:spcPct val="0"/>
              </a:spcBef>
            </a:pPr>
            <a:r>
              <a:rPr lang="en-US" sz="4273" spc="-8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n8n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00029" y="2343373"/>
            <a:ext cx="2187576" cy="54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4"/>
              </a:lnSpc>
              <a:spcBef>
                <a:spcPct val="0"/>
              </a:spcBef>
            </a:pPr>
            <a:r>
              <a:rPr lang="en-US" sz="3637" spc="-72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Langsmith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50873" y="0"/>
            <a:ext cx="3037127" cy="10287000"/>
            <a:chOff x="0" y="0"/>
            <a:chExt cx="47053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531" cy="1593725"/>
            </a:xfrm>
            <a:custGeom>
              <a:avLst/>
              <a:gdLst/>
              <a:ahLst/>
              <a:cxnLst/>
              <a:rect r="r" b="b" t="t" l="l"/>
              <a:pathLst>
                <a:path h="1593725" w="470531">
                  <a:moveTo>
                    <a:pt x="0" y="0"/>
                  </a:moveTo>
                  <a:lnTo>
                    <a:pt x="470531" y="0"/>
                  </a:lnTo>
                  <a:lnTo>
                    <a:pt x="47053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-50553" t="0" r="-5055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79450" y="7512945"/>
            <a:ext cx="14567150" cy="5896516"/>
          </a:xfrm>
          <a:custGeom>
            <a:avLst/>
            <a:gdLst/>
            <a:ahLst/>
            <a:cxnLst/>
            <a:rect r="r" b="b" t="t" l="l"/>
            <a:pathLst>
              <a:path h="5896516" w="14567150">
                <a:moveTo>
                  <a:pt x="0" y="0"/>
                </a:moveTo>
                <a:lnTo>
                  <a:pt x="14567150" y="0"/>
                </a:lnTo>
                <a:lnTo>
                  <a:pt x="14567150" y="5896515"/>
                </a:lnTo>
                <a:lnTo>
                  <a:pt x="0" y="5896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752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1707" y="1028700"/>
            <a:ext cx="14239165" cy="4634870"/>
            <a:chOff x="0" y="0"/>
            <a:chExt cx="18985554" cy="617982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360841"/>
              <a:ext cx="16695343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COMPREHENSIVE AI DIAGNOSTICS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35261"/>
              <a:ext cx="14060901" cy="1744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5"/>
                </a:lnSpc>
                <a:spcBef>
                  <a:spcPct val="0"/>
                </a:spcBef>
              </a:pPr>
              <a:r>
                <a:rPr lang="en-US" sz="2546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Groundwork provides a structured platform for consulting teams to assess AI readiness, ensuring decisions are founded on strong, evidence-based insights.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18985554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Introducing Groundwork: </a:t>
              </a:r>
            </a:p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AI Readiness Platform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6459" y="6970238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772603" y="2929294"/>
            <a:ext cx="7515397" cy="6329006"/>
          </a:xfrm>
          <a:custGeom>
            <a:avLst/>
            <a:gdLst/>
            <a:ahLst/>
            <a:cxnLst/>
            <a:rect r="r" b="b" t="t" l="l"/>
            <a:pathLst>
              <a:path h="6329006" w="7515397">
                <a:moveTo>
                  <a:pt x="0" y="0"/>
                </a:moveTo>
                <a:lnTo>
                  <a:pt x="7515397" y="0"/>
                </a:lnTo>
                <a:lnTo>
                  <a:pt x="7515397" y="6329006"/>
                </a:lnTo>
                <a:lnTo>
                  <a:pt x="0" y="632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4" t="0" r="-4938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1203960"/>
            <a:ext cx="9763125" cy="5050733"/>
            <a:chOff x="0" y="0"/>
            <a:chExt cx="13017500" cy="67343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65457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Compliance By Default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815470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AUTOMATIC LEGAL FRAMEWORKS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259340"/>
              <a:ext cx="12441676" cy="2474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0152" indent="-290076" lvl="1">
                <a:lnSpc>
                  <a:spcPts val="37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87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Every diagnosis applies the correct legal framework.</a:t>
              </a:r>
            </a:p>
            <a:p>
              <a:pPr algn="l" marL="580152" indent="-290076" lvl="1">
                <a:lnSpc>
                  <a:spcPts val="37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87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Real-time checks against EU AI Act rules.</a:t>
              </a:r>
            </a:p>
            <a:p>
              <a:pPr algn="l" marL="580152" indent="-290076" lvl="1">
                <a:lnSpc>
                  <a:spcPts val="37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87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Compliance gaps identified explicitly.</a:t>
              </a:r>
            </a:p>
            <a:p>
              <a:pPr algn="l" marL="580152" indent="-290076" lvl="1">
                <a:lnSpc>
                  <a:spcPts val="37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87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Live automated enforcement of compliance reasoning.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</a:t>
              </a: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APABILITY ONE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776214" y="2558957"/>
            <a:ext cx="8054975" cy="5729101"/>
          </a:xfrm>
          <a:custGeom>
            <a:avLst/>
            <a:gdLst/>
            <a:ahLst/>
            <a:cxnLst/>
            <a:rect r="r" b="b" t="t" l="l"/>
            <a:pathLst>
              <a:path h="5729101" w="8054975">
                <a:moveTo>
                  <a:pt x="0" y="0"/>
                </a:moveTo>
                <a:lnTo>
                  <a:pt x="8054975" y="0"/>
                </a:lnTo>
                <a:lnTo>
                  <a:pt x="8054975" y="5729101"/>
                </a:lnTo>
                <a:lnTo>
                  <a:pt x="0" y="5729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4344" y="2278949"/>
            <a:ext cx="9221870" cy="5488032"/>
            <a:chOff x="0" y="0"/>
            <a:chExt cx="12295827" cy="731737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82600"/>
              <a:ext cx="12295827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Reliable At Scale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936281"/>
              <a:ext cx="110998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STREAMLINED VENDOR RISK EVALUATION PROCESS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412656"/>
              <a:ext cx="11099800" cy="2904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8534" indent="-269267" lvl="1">
                <a:lnSpc>
                  <a:spcPts val="3492"/>
                </a:lnSpc>
                <a:buFont typeface="Arial"/>
                <a:buChar char="•"/>
              </a:pPr>
              <a:r>
                <a:rPr lang="en-US" sz="249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Vendor assessments completed in under two minutes</a:t>
              </a:r>
            </a:p>
            <a:p>
              <a:pPr algn="l" marL="538534" indent="-269267" lvl="1">
                <a:lnSpc>
                  <a:spcPts val="3492"/>
                </a:lnSpc>
                <a:buFont typeface="Arial"/>
                <a:buChar char="•"/>
              </a:pPr>
              <a:r>
                <a:rPr lang="en-US" sz="249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Re-engineered scoring pipeline for efficiency</a:t>
              </a:r>
            </a:p>
            <a:p>
              <a:pPr algn="l" marL="538534" indent="-269267" lvl="1">
                <a:lnSpc>
                  <a:spcPts val="3492"/>
                </a:lnSpc>
                <a:buFont typeface="Arial"/>
                <a:buChar char="•"/>
              </a:pPr>
              <a:r>
                <a:rPr lang="en-US" sz="249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Validated processes against real-life vendor data</a:t>
              </a:r>
            </a:p>
            <a:p>
              <a:pPr algn="l" marL="538534" indent="-269267" lvl="1">
                <a:lnSpc>
                  <a:spcPts val="3492"/>
                </a:lnSpc>
                <a:buFont typeface="Arial"/>
                <a:buChar char="•"/>
              </a:pPr>
              <a:r>
                <a:rPr lang="en-US" sz="249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Comprehensive reports generated end to end</a:t>
              </a:r>
            </a:p>
            <a:p>
              <a:pPr algn="l" marL="538534" indent="-269267" lvl="1">
                <a:lnSpc>
                  <a:spcPts val="3492"/>
                </a:lnSpc>
                <a:buFont typeface="Arial"/>
                <a:buChar char="•"/>
              </a:pPr>
              <a:r>
                <a:rPr lang="en-US" sz="249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Demonstrated reliability to clients on demand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110998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</a:t>
              </a: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APABILITY TWO: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35371" y="403947"/>
            <a:ext cx="6718251" cy="5140438"/>
          </a:xfrm>
          <a:custGeom>
            <a:avLst/>
            <a:gdLst/>
            <a:ahLst/>
            <a:cxnLst/>
            <a:rect r="r" b="b" t="t" l="l"/>
            <a:pathLst>
              <a:path h="5140438" w="6718251">
                <a:moveTo>
                  <a:pt x="0" y="0"/>
                </a:moveTo>
                <a:lnTo>
                  <a:pt x="6718251" y="0"/>
                </a:lnTo>
                <a:lnTo>
                  <a:pt x="6718251" y="5140437"/>
                </a:lnTo>
                <a:lnTo>
                  <a:pt x="0" y="514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57826" y="4056346"/>
            <a:ext cx="7337903" cy="4601172"/>
          </a:xfrm>
          <a:custGeom>
            <a:avLst/>
            <a:gdLst/>
            <a:ahLst/>
            <a:cxnLst/>
            <a:rect r="r" b="b" t="t" l="l"/>
            <a:pathLst>
              <a:path h="4601172" w="7337903">
                <a:moveTo>
                  <a:pt x="0" y="0"/>
                </a:moveTo>
                <a:lnTo>
                  <a:pt x="7337903" y="0"/>
                </a:lnTo>
                <a:lnTo>
                  <a:pt x="7337903" y="4601172"/>
                </a:lnTo>
                <a:lnTo>
                  <a:pt x="0" y="460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1054232"/>
            <a:ext cx="8968621" cy="6259850"/>
            <a:chOff x="0" y="0"/>
            <a:chExt cx="11958162" cy="83464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548445"/>
              <a:ext cx="1079618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GROUNDED IN REAL INCIDENTS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724465"/>
              <a:ext cx="10796180" cy="1622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7"/>
                </a:lnSpc>
                <a:spcBef>
                  <a:spcPct val="0"/>
                </a:spcBef>
              </a:pPr>
              <a:r>
                <a:rPr lang="en-US" sz="236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Our risk scoring leverages </a:t>
              </a:r>
              <a:r>
                <a:rPr lang="en-US" b="true" sz="2362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1641 documented AI incidents</a:t>
              </a:r>
              <a:r>
                <a:rPr lang="en-US" sz="2362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transforming subjective opinions into evidence-backed findings, enhancing reliability and trust in our assessments.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77157"/>
              <a:ext cx="11958162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Evidence-Based Risk Assessment Methodology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079618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CAP</a:t>
              </a: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ABILITY THREE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06126" y="8730326"/>
            <a:ext cx="1879197" cy="52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3495" spc="-6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Pinecone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67502" y="594822"/>
            <a:ext cx="6730564" cy="9097356"/>
          </a:xfrm>
          <a:custGeom>
            <a:avLst/>
            <a:gdLst/>
            <a:ahLst/>
            <a:cxnLst/>
            <a:rect r="r" b="b" t="t" l="l"/>
            <a:pathLst>
              <a:path h="9097356" w="6730564">
                <a:moveTo>
                  <a:pt x="0" y="0"/>
                </a:moveTo>
                <a:lnTo>
                  <a:pt x="6730564" y="0"/>
                </a:lnTo>
                <a:lnTo>
                  <a:pt x="6730564" y="9097356"/>
                </a:lnTo>
                <a:lnTo>
                  <a:pt x="0" y="9097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991979"/>
            <a:ext cx="9763125" cy="5913072"/>
            <a:chOff x="0" y="0"/>
            <a:chExt cx="13017500" cy="788409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079960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CONCRETE NEXT STEPS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264253"/>
              <a:ext cx="12881415" cy="2619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7"/>
                </a:lnSpc>
                <a:spcBef>
                  <a:spcPct val="0"/>
                </a:spcBef>
              </a:pPr>
              <a:r>
                <a:rPr lang="en-US" sz="2848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Our system generates clear, actionable recommendations after each diagnosis, allowing clients to implement changes immediately rather than waiting for further development.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60161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Turning Verdicts into Actionable Steps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CAPABILITY FOUR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787614" y="421043"/>
            <a:ext cx="7119842" cy="9444915"/>
          </a:xfrm>
          <a:custGeom>
            <a:avLst/>
            <a:gdLst/>
            <a:ahLst/>
            <a:cxnLst/>
            <a:rect r="r" b="b" t="t" l="l"/>
            <a:pathLst>
              <a:path h="9444915" w="7119842">
                <a:moveTo>
                  <a:pt x="0" y="0"/>
                </a:moveTo>
                <a:lnTo>
                  <a:pt x="7119842" y="0"/>
                </a:lnTo>
                <a:lnTo>
                  <a:pt x="7119842" y="9444914"/>
                </a:lnTo>
                <a:lnTo>
                  <a:pt x="0" y="9444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984430"/>
            <a:ext cx="9763125" cy="7456864"/>
            <a:chOff x="0" y="0"/>
            <a:chExt cx="13017500" cy="994248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70227"/>
              <a:ext cx="1301750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Independent Quality Assurance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303966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ENSURING TRUSTWORTHINESS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758749"/>
              <a:ext cx="13017500" cy="3183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5691" indent="-297845" lvl="1">
                <a:lnSpc>
                  <a:spcPts val="38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5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Every diagnostic reviewed by an independent AI</a:t>
              </a:r>
            </a:p>
            <a:p>
              <a:pPr algn="l" marL="595691" indent="-297845" lvl="1">
                <a:lnSpc>
                  <a:spcPts val="38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5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Checks five dimensions of reasoning quality</a:t>
              </a:r>
            </a:p>
            <a:p>
              <a:pPr algn="l" marL="595691" indent="-297845" lvl="1">
                <a:lnSpc>
                  <a:spcPts val="38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5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Catches overstated confidence and unsupported claims</a:t>
              </a:r>
            </a:p>
            <a:p>
              <a:pPr algn="l" marL="595691" indent="-297845" lvl="1">
                <a:lnSpc>
                  <a:spcPts val="38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5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Directly addresses jury's trust questions</a:t>
              </a:r>
            </a:p>
            <a:p>
              <a:pPr algn="l" marL="595691" indent="-297845" lvl="1">
                <a:lnSpc>
                  <a:spcPts val="38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59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Enhances credibility for client meetings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CAPAB</a:t>
              </a: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ILITY FIVE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761338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how do yo</a:t>
              </a: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 know the platform's judgment can be trusted ?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10717489" cy="6870243"/>
            <a:chOff x="0" y="0"/>
            <a:chExt cx="14289985" cy="91603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13565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EXPERIENCE OUR PLATFORM'S CAPABILITIES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319952"/>
              <a:ext cx="13017500" cy="184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6"/>
                </a:lnSpc>
                <a:spcBef>
                  <a:spcPct val="0"/>
                </a:spcBef>
              </a:pPr>
              <a:r>
                <a:rPr lang="en-US" sz="2676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live demonstration showcases a complete diagnostic process, illustrating </a:t>
              </a:r>
              <a:r>
                <a:rPr lang="en-US" b="true" sz="2676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real-time evidence-based verdicts</a:t>
              </a:r>
              <a:r>
                <a:rPr lang="en-US" sz="2676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actionable insights for clients seeking AI readiness.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4289985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See Groundwork in Action: </a:t>
              </a:r>
            </a:p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Diagnostic Walkthrough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63008" y="7657124"/>
            <a:ext cx="1534933" cy="1550438"/>
          </a:xfrm>
          <a:custGeom>
            <a:avLst/>
            <a:gdLst/>
            <a:ahLst/>
            <a:cxnLst/>
            <a:rect r="r" b="b" t="t" l="l"/>
            <a:pathLst>
              <a:path h="1550438" w="1534933">
                <a:moveTo>
                  <a:pt x="0" y="0"/>
                </a:moveTo>
                <a:lnTo>
                  <a:pt x="1534934" y="0"/>
                </a:lnTo>
                <a:lnTo>
                  <a:pt x="1534934" y="1550438"/>
                </a:lnTo>
                <a:lnTo>
                  <a:pt x="0" y="1550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805812" y="2260415"/>
            <a:ext cx="6859124" cy="6441810"/>
          </a:xfrm>
          <a:custGeom>
            <a:avLst/>
            <a:gdLst/>
            <a:ahLst/>
            <a:cxnLst/>
            <a:rect r="r" b="b" t="t" l="l"/>
            <a:pathLst>
              <a:path h="6441810" w="6859124">
                <a:moveTo>
                  <a:pt x="0" y="0"/>
                </a:moveTo>
                <a:lnTo>
                  <a:pt x="6859124" y="0"/>
                </a:lnTo>
                <a:lnTo>
                  <a:pt x="6859124" y="6441810"/>
                </a:lnTo>
                <a:lnTo>
                  <a:pt x="0" y="6441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3232237"/>
            <a:ext cx="983478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A2B68E"/>
                </a:solidFill>
                <a:latin typeface="Tenor Sans"/>
                <a:ea typeface="Tenor Sans"/>
                <a:cs typeface="Tenor Sans"/>
                <a:sym typeface="Tenor Sans"/>
              </a:rPr>
              <a:t>Agile Delivery Timeline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143500"/>
            <a:ext cx="9834781" cy="2053833"/>
            <a:chOff x="0" y="0"/>
            <a:chExt cx="13113041" cy="2738443"/>
          </a:xfrm>
        </p:grpSpPr>
        <p:sp>
          <p:nvSpPr>
            <p:cNvPr name="AutoShape 6" id="6"/>
            <p:cNvSpPr/>
            <p:nvPr/>
          </p:nvSpPr>
          <p:spPr>
            <a:xfrm>
              <a:off x="84364" y="933000"/>
              <a:ext cx="13028676" cy="0"/>
            </a:xfrm>
            <a:prstGeom prst="line">
              <a:avLst/>
            </a:prstGeom>
            <a:ln cap="flat" w="19850">
              <a:solidFill>
                <a:srgbClr val="A2B68E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848636"/>
              <a:ext cx="168729" cy="168729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2B68E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995289" y="848636"/>
              <a:ext cx="168729" cy="168729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2B68E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9990578" y="848636"/>
              <a:ext cx="168729" cy="168729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2B68E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2677345" cy="36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SPRINT ONE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993429" y="9525"/>
              <a:ext cx="2677345" cy="36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SPRINT TWO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4364" y="1446151"/>
              <a:ext cx="3622087" cy="943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7"/>
                </a:lnSpc>
                <a:spcBef>
                  <a:spcPct val="0"/>
                </a:spcBef>
              </a:pPr>
              <a:r>
                <a:rPr lang="en-US" sz="2041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Spr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1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Compl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nce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oundation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079654" y="1312146"/>
              <a:ext cx="3088205" cy="943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7"/>
                </a:lnSpc>
                <a:spcBef>
                  <a:spcPct val="0"/>
                </a:spcBef>
              </a:pPr>
              <a:r>
                <a:rPr lang="en-US" sz="2041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Spr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nt 2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ore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echnical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Bu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il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986858" y="9525"/>
              <a:ext cx="2677345" cy="36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SPRINT THREE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035105" y="1312146"/>
              <a:ext cx="3077936" cy="1426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7"/>
                </a:lnSpc>
                <a:spcBef>
                  <a:spcPct val="0"/>
                </a:spcBef>
              </a:pPr>
              <a:r>
                <a:rPr lang="en-US" sz="2041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Spr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 3 - A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vanc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ed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Q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uality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+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Submiss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</a:t>
              </a:r>
              <a:r>
                <a:rPr lang="en-US" sz="2041" strike="noStrike" u="none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723923">
            <a:off x="13749899" y="-2727241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752449" y="3233851"/>
            <a:ext cx="256938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Finalize workflows and improve intake methods.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833412" y="2958745"/>
            <a:ext cx="17850263" cy="0"/>
          </a:xfrm>
          <a:prstGeom prst="line">
            <a:avLst/>
          </a:prstGeom>
          <a:ln cap="flat" w="19050">
            <a:solidFill>
              <a:srgbClr val="A2B68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69118" y="3307246"/>
            <a:ext cx="161925" cy="16192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2B68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47545" y="2877782"/>
            <a:ext cx="161925" cy="161925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2B68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42640" y="2877782"/>
            <a:ext cx="161925" cy="161925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2B68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37735" y="2877782"/>
            <a:ext cx="161925" cy="161925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2B68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132831" y="2877782"/>
            <a:ext cx="161925" cy="161925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2B68E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654021" y="4980736"/>
            <a:ext cx="9141883" cy="5306264"/>
          </a:xfrm>
          <a:custGeom>
            <a:avLst/>
            <a:gdLst/>
            <a:ahLst/>
            <a:cxnLst/>
            <a:rect r="r" b="b" t="t" l="l"/>
            <a:pathLst>
              <a:path h="5306264" w="9141883">
                <a:moveTo>
                  <a:pt x="0" y="0"/>
                </a:moveTo>
                <a:lnTo>
                  <a:pt x="9141883" y="0"/>
                </a:lnTo>
                <a:lnTo>
                  <a:pt x="9141883" y="5306264"/>
                </a:lnTo>
                <a:lnTo>
                  <a:pt x="0" y="530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8486" r="0" b="-1798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50081" y="2277707"/>
            <a:ext cx="25693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ECEBE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INITIAL MODULE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45176" y="1915757"/>
            <a:ext cx="256938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ECEBE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REMAINING MODULES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30462" y="1915757"/>
            <a:ext cx="257175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ECEBE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CONTINUOUS IMPROVEMENT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47545" y="3233851"/>
            <a:ext cx="256938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Complete two partial modules and start three new.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32831" y="3233851"/>
            <a:ext cx="257175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Gather feedback for ongoing enhancements and updates.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9118" y="500062"/>
            <a:ext cx="155162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A2B68E"/>
                </a:solidFill>
                <a:latin typeface="Tenor Sans"/>
                <a:ea typeface="Tenor Sans"/>
                <a:cs typeface="Tenor Sans"/>
                <a:sym typeface="Tenor Sans"/>
              </a:rPr>
              <a:t>Future Development Roadmap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40272" y="1915757"/>
            <a:ext cx="256938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ECEBE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INTEGRATION TESTING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42640" y="3233851"/>
            <a:ext cx="256938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Conduct full testing across all six modules.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35367" y="1915757"/>
            <a:ext cx="256938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ECEBE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PRODUCTION LAUNCH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37735" y="3233851"/>
            <a:ext cx="256938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Deploy complete platform with real user scenarios.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8163" y="6869572"/>
            <a:ext cx="28758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E</a:t>
            </a: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i</a:t>
            </a: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ght+</a:t>
            </a: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s</a:t>
            </a:r>
            <a:r>
              <a:rPr lang="en-US" sz="2100" strike="noStrike" u="none">
                <a:solidFill>
                  <a:srgbClr val="ECEBEA"/>
                </a:solidFill>
                <a:latin typeface="Clear Sans"/>
                <a:ea typeface="Clear Sans"/>
                <a:cs typeface="Clear Sans"/>
                <a:sym typeface="Clear Sans"/>
              </a:rPr>
              <a:t>prints Planned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100"/>
            <a:ext cx="1140267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>
                <a:solidFill>
                  <a:srgbClr val="A2B68E"/>
                </a:solidFill>
                <a:latin typeface="Tenor Sans"/>
                <a:ea typeface="Tenor Sans"/>
                <a:cs typeface="Tenor Sans"/>
                <a:sym typeface="Tenor Sans"/>
              </a:rPr>
              <a:t>Cost and KPIs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82296" y="4287550"/>
            <a:ext cx="8076756" cy="3871688"/>
            <a:chOff x="0" y="0"/>
            <a:chExt cx="10769008" cy="516225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86309" y="0"/>
              <a:ext cx="10482698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9"/>
                </a:lnSpc>
                <a:spcBef>
                  <a:spcPct val="0"/>
                </a:spcBef>
              </a:pPr>
              <a:r>
                <a:rPr lang="en-US" b="true" sz="2966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METRICS FOR MEASURING SUCCESS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09242"/>
              <a:ext cx="10522475" cy="3753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4837" indent="-347419" lvl="1">
                <a:lnSpc>
                  <a:spcPts val="4505"/>
                </a:lnSpc>
                <a:buFont typeface="Arial"/>
                <a:buChar char="•"/>
              </a:pPr>
              <a:r>
                <a:rPr lang="en-US" sz="3218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Operating cost under €0.25 per cycle</a:t>
              </a:r>
            </a:p>
            <a:p>
              <a:pPr algn="l" marL="694837" indent="-347419" lvl="1">
                <a:lnSpc>
                  <a:spcPts val="4505"/>
                </a:lnSpc>
                <a:buFont typeface="Arial"/>
                <a:buChar char="•"/>
              </a:pPr>
              <a:r>
                <a:rPr lang="en-US" sz="3218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Monthly platform cost below €250</a:t>
              </a:r>
            </a:p>
            <a:p>
              <a:pPr algn="l" marL="694837" indent="-347419" lvl="1">
                <a:lnSpc>
                  <a:spcPts val="4505"/>
                </a:lnSpc>
                <a:buFont typeface="Arial"/>
                <a:buChar char="•"/>
              </a:pPr>
              <a:r>
                <a:rPr lang="en-US" sz="3218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Six defined KPIs for tracking</a:t>
              </a:r>
            </a:p>
            <a:p>
              <a:pPr algn="l" marL="694837" indent="-347419" lvl="1">
                <a:lnSpc>
                  <a:spcPts val="4505"/>
                </a:lnSpc>
                <a:buFont typeface="Arial"/>
                <a:buChar char="•"/>
              </a:pPr>
              <a:r>
                <a:rPr lang="en-US" sz="3218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Targets for adoption and efficiency</a:t>
              </a:r>
            </a:p>
            <a:p>
              <a:pPr algn="l" marL="694837" indent="-347419" lvl="1">
                <a:lnSpc>
                  <a:spcPts val="4505"/>
                </a:lnSpc>
                <a:buFont typeface="Arial"/>
                <a:buChar char="•"/>
              </a:pPr>
              <a:r>
                <a:rPr lang="en-US" sz="3218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Data sources for each KPI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66750" y="3225100"/>
            <a:ext cx="9015546" cy="6450136"/>
          </a:xfrm>
          <a:custGeom>
            <a:avLst/>
            <a:gdLst/>
            <a:ahLst/>
            <a:cxnLst/>
            <a:rect r="r" b="b" t="t" l="l"/>
            <a:pathLst>
              <a:path h="6450136" w="9015546">
                <a:moveTo>
                  <a:pt x="0" y="0"/>
                </a:moveTo>
                <a:lnTo>
                  <a:pt x="9015546" y="0"/>
                </a:lnTo>
                <a:lnTo>
                  <a:pt x="9015546" y="6450136"/>
                </a:lnTo>
                <a:lnTo>
                  <a:pt x="0" y="6450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013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924684" y="2596380"/>
            <a:ext cx="8529798" cy="6008177"/>
          </a:xfrm>
          <a:custGeom>
            <a:avLst/>
            <a:gdLst/>
            <a:ahLst/>
            <a:cxnLst/>
            <a:rect r="r" b="b" t="t" l="l"/>
            <a:pathLst>
              <a:path h="6008177" w="8529798">
                <a:moveTo>
                  <a:pt x="0" y="0"/>
                </a:moveTo>
                <a:lnTo>
                  <a:pt x="8529799" y="0"/>
                </a:lnTo>
                <a:lnTo>
                  <a:pt x="8529799" y="6008177"/>
                </a:lnTo>
                <a:lnTo>
                  <a:pt x="0" y="6008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1562100"/>
            <a:ext cx="8761043" cy="5943144"/>
            <a:chOff x="0" y="0"/>
            <a:chExt cx="11681390" cy="792419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68139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A2B68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Return on Investment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39"/>
              <a:ext cx="1168139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PROJECTED FINANCIAL GAINS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768621"/>
              <a:ext cx="11681390" cy="3155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0324" indent="-295162" lvl="1">
                <a:lnSpc>
                  <a:spcPts val="38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3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153% ROI at twelve months</a:t>
              </a:r>
            </a:p>
            <a:p>
              <a:pPr algn="l" marL="590324" indent="-295162" lvl="1">
                <a:lnSpc>
                  <a:spcPts val="38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3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574% ROI at thirty-six months</a:t>
              </a:r>
            </a:p>
            <a:p>
              <a:pPr algn="l" marL="590324" indent="-295162" lvl="1">
                <a:lnSpc>
                  <a:spcPts val="38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3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Break-even in approximately 4.5 months</a:t>
              </a:r>
            </a:p>
            <a:p>
              <a:pPr algn="l" marL="590324" indent="-295162" lvl="1">
                <a:lnSpc>
                  <a:spcPts val="38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3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Based on transparent assumptions</a:t>
              </a:r>
            </a:p>
            <a:p>
              <a:pPr algn="l" marL="590324" indent="-295162" lvl="1">
                <a:lnSpc>
                  <a:spcPts val="38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34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Significant time savings per engagement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5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A2B68E"/>
                </a:solidFill>
                <a:latin typeface="Tenor Sans"/>
                <a:ea typeface="Tenor Sans"/>
                <a:cs typeface="Tenor Sans"/>
                <a:sym typeface="Tenor Sans"/>
              </a:rPr>
              <a:t>Thank You for Your Attention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143500"/>
            <a:ext cx="8324850" cy="3465218"/>
            <a:chOff x="0" y="0"/>
            <a:chExt cx="11099800" cy="46202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EMAIL ADDRESS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7135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Pourmehr.nelly@gmail.com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1447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SOCIAL MEDIA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57810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@uxandai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50515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ECEBE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PHONE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148486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EBE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01736118167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Groundwork: AI Readiness Diagnostics</dc:description>
  <dc:identifier>DAHUJTh1grc</dc:identifier>
  <dcterms:modified xsi:type="dcterms:W3CDTF">2011-08-01T06:04:30Z</dcterms:modified>
  <cp:revision>1</cp:revision>
  <dc:title>Presentation - Groundwork: AI Readiness Diagnostics</dc:title>
</cp:coreProperties>
</file>